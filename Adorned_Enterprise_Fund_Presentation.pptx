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01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4AF37"/>
                </a:solidFill>
                <a:latin typeface="Calibri"/>
              </a:defRPr>
            </a:pPr>
            <a:r>
              <a:t>THE ADORNED INTERNATIONAL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Enterprise &amp; Innovation Acceleration Initiative</a:t>
            </a:r>
          </a:p>
          <a:p>
            <a:pPr>
              <a:spcAft>
                <a:spcPts val="24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Tier-1 Strategic Business Case &amp; Masterplan | Target Showcase: December 2026</a:t>
            </a:r>
          </a:p>
          <a:p>
            <a:pPr>
              <a:defRPr sz="1100">
                <a:solidFill>
                  <a:srgbClr val="D4AF37"/>
                </a:solidFill>
                <a:latin typeface="Calibri"/>
              </a:defRPr>
            </a:pPr>
            <a:r>
              <a:t>McKinsey Standard | Prepared for Senior Pastoral Leadership &amp; Board of Trustees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THE ADORNED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Executive Brief: Catalyst for Economic Elevation &amp; Kingdom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2841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01. THE VISION</a:t>
            </a:r>
          </a:p>
          <a:p>
            <a:pPr>
              <a:spcAft>
                <a:spcPts val="1200"/>
              </a:spcAft>
              <a:defRPr sz="1500" b="1">
                <a:solidFill>
                  <a:srgbClr val="0A192F"/>
                </a:solidFill>
                <a:latin typeface="Calibri"/>
              </a:defRPr>
            </a:pPr>
            <a:r>
              <a:t>Bridging the Gap from Idea to Scalable Enterprise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AIVA transforms raw business concepts into sustainable enterprises via structured training, capital, and 6-month incubation.</a:t>
            </a:r>
            <a:br/>
            <a:br/>
            <a:r>
              <a:t>• Target Showcase: December 2026</a:t>
            </a:r>
            <a:br/>
            <a:r>
              <a:t>• 80% Church Members / 20% External</a:t>
            </a:r>
            <a:br/>
            <a:r>
              <a:t>• Pastoral Governance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463040"/>
            <a:ext cx="332841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02. THE CAPITAL MODEL</a:t>
            </a:r>
          </a:p>
          <a:p>
            <a:pPr>
              <a:spcAft>
                <a:spcPts val="1200"/>
              </a:spcAft>
              <a:defRPr sz="1500" b="1">
                <a:solidFill>
                  <a:srgbClr val="0A192F"/>
                </a:solidFill>
                <a:latin typeface="Calibri"/>
              </a:defRPr>
            </a:pPr>
            <a:r>
              <a:t>₦6.5M Seed Grant Pool (December 2026)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Graduating founders pitch before Pastoral Leadership and 'Kingdom Angels' to win seed grants.</a:t>
            </a:r>
            <a:br/>
            <a:br/>
            <a:r>
              <a:t>• 1st Place: ₦5,000,000 Grant</a:t>
            </a:r>
            <a:br/>
            <a:r>
              <a:t>• 2nd Place: ₦1,000,000 Grant</a:t>
            </a:r>
            <a:br/>
            <a:r>
              <a:t>• 3rd Place: ₦500,000 Grant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1463040"/>
            <a:ext cx="332841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03. THE INCUBATION</a:t>
            </a:r>
          </a:p>
          <a:p>
            <a:pPr>
              <a:spcAft>
                <a:spcPts val="1200"/>
              </a:spcAft>
              <a:defRPr sz="1500" b="1">
                <a:solidFill>
                  <a:srgbClr val="0A192F"/>
                </a:solidFill>
                <a:latin typeface="Calibri"/>
              </a:defRPr>
            </a:pPr>
            <a:r>
              <a:t>6-Month Top 5 Post-Pitch Acceleration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Top 5 emerging ventures transition into an intensive 6-month incubation cohort starting Jan 2027.</a:t>
            </a:r>
            <a:br/>
            <a:br/>
            <a:r>
              <a:t>• Executive C-Suite Mentorship</a:t>
            </a:r>
            <a:br/>
            <a:r>
              <a:t>• Legal &amp; Tax (CAC) Formalization</a:t>
            </a:r>
            <a:br/>
            <a:r>
              <a:t>• Shared Workspace &amp; Tool Credits</a:t>
            </a:r>
            <a:br/>
            <a:r>
              <a:t>• Quarterly Audit Tranches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THE ADORNED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Strategic Framework: McKinsey 3-Horizon Growth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2841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05409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HORIZON 1 (2026)</a:t>
            </a:r>
          </a:p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Seed &amp; Formalization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Launch Cohort 1 Intake (Sep 2026)</a:t>
            </a:r>
            <a:br/>
            <a:r>
              <a:t>• Execute 6-Week Enterprise Bootcamp</a:t>
            </a:r>
            <a:br/>
            <a:r>
              <a:t>• Host December 2026 Demo Day</a:t>
            </a:r>
            <a:br/>
            <a:r>
              <a:t>• CAC &amp; Legal Formalization for Top 5</a:t>
            </a:r>
          </a:p>
        </p:txBody>
      </p:sp>
      <p:pic>
        <p:nvPicPr>
          <p:cNvPr id="6" name="Picture 5" descr="bootca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80560"/>
            <a:ext cx="3328416" cy="1691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25696" y="1463040"/>
            <a:ext cx="332841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600200"/>
            <a:ext cx="305409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HORIZON 2 (2027)</a:t>
            </a:r>
          </a:p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Commercial Integration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Integrate Top 5 into Church Business Chains</a:t>
            </a:r>
            <a:br/>
            <a:r>
              <a:t>• Activate 10% Profit Payback into Seed Fund</a:t>
            </a:r>
            <a:br/>
            <a:r>
              <a:t>• Expand Mentorship Network to 20+ Leaders</a:t>
            </a:r>
            <a:br/>
            <a:r>
              <a:t>• Launch Cohort 2 Intake</a:t>
            </a:r>
          </a:p>
        </p:txBody>
      </p:sp>
      <p:pic>
        <p:nvPicPr>
          <p:cNvPr id="9" name="Picture 8" descr="innovation_hu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4480560"/>
            <a:ext cx="3328416" cy="1691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19872" y="1463040"/>
            <a:ext cx="332841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600200"/>
            <a:ext cx="305409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HORIZON 3 (2028+)</a:t>
            </a:r>
          </a:p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Kingdom Venture Fund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Scale Capital Pool to ₦50M+ with Impact Partners</a:t>
            </a:r>
            <a:br/>
            <a:r>
              <a:t>• Establish Evergreen Revolving Capital Model</a:t>
            </a:r>
            <a:br/>
            <a:r>
              <a:t>• Regional Replication in Partner Churches</a:t>
            </a:r>
            <a:br/>
            <a:r>
              <a:t>• Self-Sustaining Venture Ecosystem</a:t>
            </a:r>
          </a:p>
        </p:txBody>
      </p:sp>
      <p:pic>
        <p:nvPicPr>
          <p:cNvPr id="12" name="Picture 11" descr="mentorshi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4480560"/>
            <a:ext cx="3328416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THE ADORNED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Program Architecture: The 4-Stage Accelerator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45059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STAGE 1</a:t>
            </a:r>
          </a:p>
          <a:p>
            <a:pPr>
              <a:spcAft>
                <a:spcPts val="200"/>
              </a:spcAft>
              <a:defRPr sz="1300" b="1">
                <a:solidFill>
                  <a:srgbClr val="0A192F"/>
                </a:solidFill>
                <a:latin typeface="Calibri"/>
              </a:defRPr>
            </a:pPr>
            <a:r>
              <a:t>Application Intake</a:t>
            </a:r>
          </a:p>
          <a:p>
            <a:pPr>
              <a:spcAft>
                <a:spcPts val="600"/>
              </a:spcAft>
              <a:defRPr sz="950" b="1">
                <a:solidFill>
                  <a:srgbClr val="D4AF37"/>
                </a:solidFill>
                <a:latin typeface="Calibri"/>
              </a:defRPr>
            </a:pPr>
            <a:r>
              <a:t>Timeline: September 2026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Online Application Portal</a:t>
            </a:r>
            <a:br/>
            <a:r>
              <a:t>• 80% Church / 20% External</a:t>
            </a:r>
            <a:br/>
            <a:r>
              <a:t>• 100-Pt Vetting Matrix</a:t>
            </a:r>
            <a:br/>
            <a:r>
              <a:t>• Desktop Due Diligence</a:t>
            </a:r>
          </a:p>
        </p:txBody>
      </p:sp>
      <p:pic>
        <p:nvPicPr>
          <p:cNvPr id="6" name="Picture 5" descr="innovation_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2450592" cy="1600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56432" y="1463040"/>
            <a:ext cx="245059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60020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STAGE 2</a:t>
            </a:r>
          </a:p>
          <a:p>
            <a:pPr>
              <a:spcAft>
                <a:spcPts val="200"/>
              </a:spcAft>
              <a:defRPr sz="1300" b="1">
                <a:solidFill>
                  <a:srgbClr val="0A192F"/>
                </a:solidFill>
                <a:latin typeface="Calibri"/>
              </a:defRPr>
            </a:pPr>
            <a:r>
              <a:t>Enterprise Bootcamp</a:t>
            </a:r>
          </a:p>
          <a:p>
            <a:pPr>
              <a:spcAft>
                <a:spcPts val="600"/>
              </a:spcAft>
              <a:defRPr sz="950" b="1">
                <a:solidFill>
                  <a:srgbClr val="D4AF37"/>
                </a:solidFill>
                <a:latin typeface="Calibri"/>
              </a:defRPr>
            </a:pPr>
            <a:r>
              <a:t>Timeline: Oct - Nov 2026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Business Model Canvas</a:t>
            </a:r>
            <a:br/>
            <a:r>
              <a:t>• Unit Economics &amp; Pricing</a:t>
            </a:r>
            <a:br/>
            <a:r>
              <a:t>• CAC &amp; Tax Formalization</a:t>
            </a:r>
            <a:br/>
            <a:r>
              <a:t>• Pitch Masterclasses</a:t>
            </a:r>
          </a:p>
        </p:txBody>
      </p:sp>
      <p:pic>
        <p:nvPicPr>
          <p:cNvPr id="9" name="Picture 8" descr="bootc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4572000"/>
            <a:ext cx="2450592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81344" y="1463040"/>
            <a:ext cx="245059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60020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STAGE 3</a:t>
            </a:r>
          </a:p>
          <a:p>
            <a:pPr>
              <a:spcAft>
                <a:spcPts val="200"/>
              </a:spcAft>
              <a:defRPr sz="1300" b="1">
                <a:solidFill>
                  <a:srgbClr val="0A192F"/>
                </a:solidFill>
                <a:latin typeface="Calibri"/>
              </a:defRPr>
            </a:pPr>
            <a:r>
              <a:t>Demo Day Showcase</a:t>
            </a:r>
          </a:p>
          <a:p>
            <a:pPr>
              <a:spcAft>
                <a:spcPts val="600"/>
              </a:spcAft>
              <a:defRPr sz="950" b="1">
                <a:solidFill>
                  <a:srgbClr val="D4AF37"/>
                </a:solidFill>
                <a:latin typeface="Calibri"/>
              </a:defRPr>
            </a:pPr>
            <a:r>
              <a:t>Timeline: December 2026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Executive Live Showcase</a:t>
            </a:r>
            <a:br/>
            <a:r>
              <a:t>• 1st Place: ₦5,000,000</a:t>
            </a:r>
            <a:br/>
            <a:r>
              <a:t>• 2nd Place: ₦1,000,000</a:t>
            </a:r>
            <a:br/>
            <a:r>
              <a:t>• 3rd Place: ₦500,000</a:t>
            </a:r>
          </a:p>
        </p:txBody>
      </p:sp>
      <p:pic>
        <p:nvPicPr>
          <p:cNvPr id="12" name="Picture 11" descr="demo_d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4572000"/>
            <a:ext cx="2450592" cy="1600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906256" y="1463040"/>
            <a:ext cx="245059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160020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STAGE 4</a:t>
            </a:r>
          </a:p>
          <a:p>
            <a:pPr>
              <a:spcAft>
                <a:spcPts val="200"/>
              </a:spcAft>
              <a:defRPr sz="1300" b="1">
                <a:solidFill>
                  <a:srgbClr val="0A192F"/>
                </a:solidFill>
                <a:latin typeface="Calibri"/>
              </a:defRPr>
            </a:pPr>
            <a:r>
              <a:t>Top 5 Incubation</a:t>
            </a:r>
          </a:p>
          <a:p>
            <a:pPr>
              <a:spcAft>
                <a:spcPts val="600"/>
              </a:spcAft>
              <a:defRPr sz="950" b="1">
                <a:solidFill>
                  <a:srgbClr val="D4AF37"/>
                </a:solidFill>
                <a:latin typeface="Calibri"/>
              </a:defRPr>
            </a:pPr>
            <a:r>
              <a:t>Timeline: Jan - Jun 2027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C-Suite Mentor Matching</a:t>
            </a:r>
            <a:br/>
            <a:r>
              <a:t>• CAC Corporate Setup</a:t>
            </a:r>
            <a:br/>
            <a:r>
              <a:t>• Shared Workspace Credits</a:t>
            </a:r>
            <a:br/>
            <a:r>
              <a:t>• Milestone Tranches</a:t>
            </a:r>
          </a:p>
        </p:txBody>
      </p:sp>
      <p:pic>
        <p:nvPicPr>
          <p:cNvPr id="15" name="Picture 14" descr="mentorshi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256" y="4572000"/>
            <a:ext cx="2450592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THE ADORNED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Annual Cohort Budget: ₦14,000,000 Capital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840480" cy="4754880"/>
          </a:xfrm>
          <a:prstGeom prst="rect">
            <a:avLst/>
          </a:prstGeom>
          <a:solidFill>
            <a:srgbClr val="0A192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D4AF37"/>
                </a:solidFill>
                <a:latin typeface="Calibri"/>
              </a:defRPr>
            </a:pPr>
            <a:r>
              <a:t>CAPITAL ALLOCATION BRIEF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TOTAL ANNUAL BUDGET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₦14,000,000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SEED GRANT POOL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₦6,500,000 (46.4%)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OPS &amp; INCUBATION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₦7,500,000 (53.6%)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TARGET APPLICANTS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50+ Businesses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DEMO DAY DATE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December 2026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TOP INCUBATED COHORT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Top 5 Ventures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463040"/>
            <a:ext cx="6583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A192F"/>
                </a:solidFill>
                <a:latin typeface="Calibri"/>
              </a:defRPr>
            </a:pPr>
            <a:r>
              <a:t>Itemized Expense Allocation (NGN)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1. Seed Funding Grants Pool — ₦6,500,000 (46.4%)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1st Place: ₦5M | 2nd Place: ₦1M | 3rd Place: ₦500K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2. Bootcamp &amp; Facilitators — ₦2,200,000 (15.7%)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Weekend masterclass facilitators &amp; workbooks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3. December Demo Day Production — ₦2,500,000 (17.9%)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Venue production, media coverage, livestreaming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4. Incubation (6 Months) — ₦1,800,000 (12.9%)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Legal CAC setup, tax IDs, accounting tools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5. Admin &amp; Reserve — ₦1,000,000 (7.1%)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Calibri"/>
              </a:defRPr>
            </a:pPr>
            <a:r>
              <a:t>Branding, portal hosting, contingency reserve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THE ADORNED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Capital Sourcing Strategy: 4-Pillar Funding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PILLAR 1: CHURCH EMPOWERMENT FUND</a:t>
            </a:r>
          </a:p>
          <a:p>
            <a:pPr>
              <a:spcAft>
                <a:spcPts val="6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₦3,500,000 (25% of Total)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Institutional anchor commitment from church benevolence and empowerment budget.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PILLAR 2: 'KINGDOM ANGELS' NETWORK</a:t>
            </a:r>
          </a:p>
          <a:p>
            <a:pPr>
              <a:spcAft>
                <a:spcPts val="6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₦5,000,000 (36% of Total)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Subscriptions from high-net-worth congregation members committing ₦500k–₦1M each.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PILLAR 3: CORPORATE CSR &amp; SPONSORSHIPS</a:t>
            </a:r>
          </a:p>
          <a:p>
            <a:pPr>
              <a:spcAft>
                <a:spcPts val="6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₦4,500,000 (32% of Total)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Headline and Gold sponsorship packages pitched to commercial banks, fintechs, and telecoms.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93192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PILLAR 4: COMMITMENT TOKENS</a:t>
            </a:r>
          </a:p>
          <a:p>
            <a:pPr>
              <a:spcAft>
                <a:spcPts val="6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₦1,000,000 (7% of Total)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Nominal application fee (₦10,000 per application) ensuring high founder commitment.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THE ADORNED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Governance Structure: Senior Pastoral Advisory Board &amp; 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2841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05409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4AF37"/>
                </a:solidFill>
                <a:latin typeface="Calibri"/>
              </a:defRPr>
            </a:pPr>
            <a:r>
              <a:t>1. SENIOR PASTORAL ADVISORY BOARD</a:t>
            </a:r>
          </a:p>
          <a:p>
            <a:pPr>
              <a:spcAft>
                <a:spcPts val="800"/>
              </a:spcAft>
              <a:defRPr sz="1300" b="1">
                <a:solidFill>
                  <a:srgbClr val="0A192F"/>
                </a:solidFill>
                <a:latin typeface="Calibri"/>
              </a:defRPr>
            </a:pPr>
            <a:r>
              <a:t>Ultimate Governance &amp; Stewardship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Ultimate vision alignment &amp; stewardship</a:t>
            </a:r>
            <a:br/>
            <a:r>
              <a:t>• Final fund disbursement approval</a:t>
            </a:r>
            <a:br/>
            <a:r>
              <a:t>• Ethical leadership governance</a:t>
            </a:r>
            <a:br/>
            <a:r>
              <a:t>• Strategic policy direction</a:t>
            </a:r>
          </a:p>
        </p:txBody>
      </p:sp>
      <p:pic>
        <p:nvPicPr>
          <p:cNvPr id="6" name="Picture 5" descr="pastoral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80560"/>
            <a:ext cx="3328416" cy="1691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25696" y="1463040"/>
            <a:ext cx="332841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600200"/>
            <a:ext cx="305409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4AF37"/>
                </a:solidFill>
                <a:latin typeface="Calibri"/>
              </a:defRPr>
            </a:pPr>
            <a:r>
              <a:t>2. FUND INVESTMENT COMMITTEE (FIC)</a:t>
            </a:r>
          </a:p>
          <a:p>
            <a:pPr>
              <a:spcAft>
                <a:spcPts val="800"/>
              </a:spcAft>
              <a:defRPr sz="1300" b="1">
                <a:solidFill>
                  <a:srgbClr val="0A192F"/>
                </a:solidFill>
                <a:latin typeface="Calibri"/>
              </a:defRPr>
            </a:pPr>
            <a:r>
              <a:t>Vetting, Scoring &amp; Capital Allocation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Senior corporate &amp; finance executives</a:t>
            </a:r>
            <a:br/>
            <a:r>
              <a:t>• Pitch evaluation at December Demo Day</a:t>
            </a:r>
            <a:br/>
            <a:r>
              <a:t>• Milestone tranche disbursement</a:t>
            </a:r>
            <a:br/>
            <a:r>
              <a:t>• Portfolio compliance audits</a:t>
            </a:r>
          </a:p>
        </p:txBody>
      </p:sp>
      <p:pic>
        <p:nvPicPr>
          <p:cNvPr id="9" name="Picture 8" descr="investment_committ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4480560"/>
            <a:ext cx="3328416" cy="1691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19872" y="1463040"/>
            <a:ext cx="3328416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600200"/>
            <a:ext cx="305409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4AF37"/>
                </a:solidFill>
                <a:latin typeface="Calibri"/>
              </a:defRPr>
            </a:pPr>
            <a:r>
              <a:t>3. AIVA INCUBATION OPERATIONS TEAM</a:t>
            </a:r>
          </a:p>
          <a:p>
            <a:pPr>
              <a:spcAft>
                <a:spcPts val="800"/>
              </a:spcAft>
              <a:defRPr sz="1300" b="1">
                <a:solidFill>
                  <a:srgbClr val="0A192F"/>
                </a:solidFill>
                <a:latin typeface="Calibri"/>
              </a:defRPr>
            </a:pPr>
            <a:r>
              <a:t>Program Delivery &amp; Founder Coaching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Program Director &amp; Lead Mentors</a:t>
            </a:r>
            <a:br/>
            <a:r>
              <a:t>• 6-week bootcamp delivery</a:t>
            </a:r>
            <a:br/>
            <a:r>
              <a:t>• CAC corporate registration &amp; tax setup</a:t>
            </a:r>
            <a:br/>
            <a:r>
              <a:t>• Quarterly milestone reporting</a:t>
            </a:r>
          </a:p>
        </p:txBody>
      </p:sp>
      <p:pic>
        <p:nvPicPr>
          <p:cNvPr id="12" name="Picture 11" descr="mentorshi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4480560"/>
            <a:ext cx="3328416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THE ADORNED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Balanced Scorecard: 4-Pillar Impact &amp; ROI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45059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1. FINANCIAL ROI</a:t>
            </a:r>
          </a:p>
          <a:p>
            <a:pPr>
              <a:spcAft>
                <a:spcPts val="600"/>
              </a:spcAft>
              <a:defRPr sz="1200" b="1">
                <a:solidFill>
                  <a:srgbClr val="0A192F"/>
                </a:solidFill>
                <a:latin typeface="Calibri"/>
              </a:defRPr>
            </a:pPr>
            <a:r>
              <a:t>Tithe Growth &amp; Fund Payback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Projected ₦6M/yr tithes by Year 3.</a:t>
            </a:r>
            <a:br/>
            <a:r>
              <a:t>• 10% profit payback into Seed Fund starting Month 18.</a:t>
            </a:r>
          </a:p>
        </p:txBody>
      </p:sp>
      <p:pic>
        <p:nvPicPr>
          <p:cNvPr id="6" name="Picture 5" descr="innovation_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2450592" cy="1600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56432" y="1463040"/>
            <a:ext cx="245059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60020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2. SOCIAL ROI</a:t>
            </a:r>
          </a:p>
          <a:p>
            <a:pPr>
              <a:spcAft>
                <a:spcPts val="600"/>
              </a:spcAft>
              <a:defRPr sz="1200" b="1">
                <a:solidFill>
                  <a:srgbClr val="0A192F"/>
                </a:solidFill>
                <a:latin typeface="Calibri"/>
              </a:defRPr>
            </a:pPr>
            <a:r>
              <a:t>Job Creation &amp; Elevation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15–30 direct jobs in Cohort 1; 40+ indirect jobs.</a:t>
            </a:r>
            <a:br/>
            <a:r>
              <a:t>• Household income elevation.</a:t>
            </a:r>
          </a:p>
        </p:txBody>
      </p:sp>
      <p:pic>
        <p:nvPicPr>
          <p:cNvPr id="9" name="Picture 8" descr="economic_impa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4572000"/>
            <a:ext cx="2450592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81344" y="1463040"/>
            <a:ext cx="245059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60020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3. BRAND ROI</a:t>
            </a:r>
          </a:p>
          <a:p>
            <a:pPr>
              <a:spcAft>
                <a:spcPts val="600"/>
              </a:spcAft>
              <a:defRPr sz="1200" b="1">
                <a:solidFill>
                  <a:srgbClr val="0A192F"/>
                </a:solidFill>
                <a:latin typeface="Calibri"/>
              </a:defRPr>
            </a:pPr>
            <a:r>
              <a:t>Institutional Leadership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Positions church as socio-economic hub.</a:t>
            </a:r>
            <a:br/>
            <a:r>
              <a:t>• Unlocks corporate partnerships.</a:t>
            </a:r>
          </a:p>
        </p:txBody>
      </p:sp>
      <p:pic>
        <p:nvPicPr>
          <p:cNvPr id="12" name="Picture 11" descr="demo_d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4572000"/>
            <a:ext cx="2450592" cy="1600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906256" y="1463040"/>
            <a:ext cx="245059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1600200"/>
            <a:ext cx="22677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4. KINGDOM ROI</a:t>
            </a:r>
          </a:p>
          <a:p>
            <a:pPr>
              <a:spcAft>
                <a:spcPts val="600"/>
              </a:spcAft>
              <a:defRPr sz="1200" b="1">
                <a:solidFill>
                  <a:srgbClr val="0A192F"/>
                </a:solidFill>
                <a:latin typeface="Calibri"/>
              </a:defRPr>
            </a:pPr>
            <a:r>
              <a:t>Marketplace Ethics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Ethical Christian business leaders.</a:t>
            </a:r>
            <a:br/>
            <a:r>
              <a:t>• 20% external slot outreach engine.</a:t>
            </a:r>
          </a:p>
        </p:txBody>
      </p:sp>
      <p:pic>
        <p:nvPicPr>
          <p:cNvPr id="15" name="Picture 14" descr="pastoral_bo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256" y="4572000"/>
            <a:ext cx="2450592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ACTION PLAN FOR PASTORAL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Leadership Implementation Roadmap (Target: December 2026 Demo Day)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5912" cy="4754880"/>
          </a:xfrm>
          <a:prstGeom prst="rect">
            <a:avLst/>
          </a:prstGeom>
          <a:solidFill>
            <a:srgbClr val="0F1E3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Calibri"/>
              </a:defRPr>
            </a:pPr>
            <a:r>
              <a:t>1. FORMAL PASTORAL BOARD RATIFICATION (August 2026)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Adopt AIVA as an official economic empowerment initiative of The Adorned International.</a:t>
            </a:r>
          </a:p>
          <a:p>
            <a:pPr>
              <a:defRPr sz="1200" b="1">
                <a:solidFill>
                  <a:srgbClr val="D4AF37"/>
                </a:solidFill>
                <a:latin typeface="Calibri"/>
              </a:defRPr>
            </a:pPr>
            <a:r>
              <a:t>2. APPOINTMENT OF AIVA STEERING COMMITTEE (Early September 2026)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Establish a 5-member committee of senior business leaders to oversee program execution.</a:t>
            </a:r>
          </a:p>
          <a:p>
            <a:pPr>
              <a:defRPr sz="1200" b="1">
                <a:solidFill>
                  <a:srgbClr val="D4AF37"/>
                </a:solidFill>
                <a:latin typeface="Calibri"/>
              </a:defRPr>
            </a:pPr>
            <a:r>
              <a:t>3. 'KINGDOM ANGELS' EXECUTIVE BREAKFAST (Mid-September 2026)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Gather high-net-worth church members to raise ₦5,000,000 in anchor seed commitments.</a:t>
            </a:r>
          </a:p>
          <a:p>
            <a:pPr>
              <a:defRPr sz="1200" b="1">
                <a:solidFill>
                  <a:srgbClr val="D4AF37"/>
                </a:solidFill>
                <a:latin typeface="Calibri"/>
              </a:defRPr>
            </a:pPr>
            <a:r>
              <a:t>4. APPLICATION PORTAL LAUNCH (Late September 2026)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Open online application intake for 80% church members / 20% external candidates.</a:t>
            </a:r>
          </a:p>
          <a:p>
            <a:pPr>
              <a:defRPr sz="1200" b="1">
                <a:solidFill>
                  <a:srgbClr val="D4AF37"/>
                </a:solidFill>
                <a:latin typeface="Calibri"/>
              </a:defRPr>
            </a:pPr>
            <a:r>
              <a:t>5. ENTERPRISE BOOTCAMP &amp; MENTOR MATCHING (October – November 2026)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Conduct 6-week intensive training and C-suite mentor pairings.</a:t>
            </a:r>
          </a:p>
          <a:p>
            <a:pPr>
              <a:defRPr sz="1200" b="1">
                <a:solidFill>
                  <a:srgbClr val="D4AF37"/>
                </a:solidFill>
                <a:latin typeface="Calibri"/>
              </a:defRPr>
            </a:pPr>
            <a:r>
              <a:t>6. INAUGURAL DEMO DAY SHOWCASE (December 2026)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Host flagship competition showcase in December 2026 and award ₦6.5M in seed capital grants.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